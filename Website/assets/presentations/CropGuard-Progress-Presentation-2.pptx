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Open Sauce" charset="1" panose="00000500000000000000"/>
      <p:regular r:id="rId20"/>
    </p:embeddedFont>
    <p:embeddedFont>
      <p:font typeface="Inter" charset="1" panose="02000503000000020004"/>
      <p:regular r:id="rId21"/>
    </p:embeddedFont>
    <p:embeddedFont>
      <p:font typeface="Open Sauce Bold" charset="1" panose="00000800000000000000"/>
      <p:regular r:id="rId22"/>
    </p:embeddedFont>
    <p:embeddedFont>
      <p:font typeface="Open Sauce Semi-Bold" charset="1" panose="00000700000000000000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6916999" y="8976661"/>
            <a:ext cx="11877357" cy="1802058"/>
            <a:chOff x="0" y="0"/>
            <a:chExt cx="2762287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91785" y="1596250"/>
            <a:ext cx="9067515" cy="7662050"/>
          </a:xfrm>
          <a:custGeom>
            <a:avLst/>
            <a:gdLst/>
            <a:ahLst/>
            <a:cxnLst/>
            <a:rect r="r" b="b" t="t" l="l"/>
            <a:pathLst>
              <a:path h="7662050" w="9067515">
                <a:moveTo>
                  <a:pt x="0" y="0"/>
                </a:moveTo>
                <a:lnTo>
                  <a:pt x="9067515" y="0"/>
                </a:lnTo>
                <a:lnTo>
                  <a:pt x="9067515" y="7662050"/>
                </a:lnTo>
                <a:lnTo>
                  <a:pt x="0" y="7662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973782" y="1292559"/>
            <a:ext cx="9520484" cy="1802058"/>
            <a:chOff x="0" y="0"/>
            <a:chExt cx="2214155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4155" cy="419100"/>
            </a:xfrm>
            <a:custGeom>
              <a:avLst/>
              <a:gdLst/>
              <a:ahLst/>
              <a:cxnLst/>
              <a:rect r="r" b="b" t="t" l="l"/>
              <a:pathLst>
                <a:path h="419100" w="2214155">
                  <a:moveTo>
                    <a:pt x="15247" y="0"/>
                  </a:moveTo>
                  <a:lnTo>
                    <a:pt x="1964910" y="0"/>
                  </a:lnTo>
                  <a:cubicBezTo>
                    <a:pt x="2119224" y="0"/>
                    <a:pt x="2214155" y="93819"/>
                    <a:pt x="2214155" y="209550"/>
                  </a:cubicBezTo>
                  <a:cubicBezTo>
                    <a:pt x="2214155" y="325281"/>
                    <a:pt x="2119224" y="419100"/>
                    <a:pt x="1964910" y="419100"/>
                  </a:cubicBezTo>
                  <a:lnTo>
                    <a:pt x="15247" y="419100"/>
                  </a:lnTo>
                  <a:cubicBezTo>
                    <a:pt x="11203" y="419100"/>
                    <a:pt x="7325" y="417494"/>
                    <a:pt x="4466" y="414634"/>
                  </a:cubicBezTo>
                  <a:cubicBezTo>
                    <a:pt x="1606" y="411775"/>
                    <a:pt x="0" y="407897"/>
                    <a:pt x="0" y="403853"/>
                  </a:cubicBezTo>
                  <a:lnTo>
                    <a:pt x="0" y="15247"/>
                  </a:lnTo>
                  <a:cubicBezTo>
                    <a:pt x="0" y="11203"/>
                    <a:pt x="1606" y="7325"/>
                    <a:pt x="4466" y="4466"/>
                  </a:cubicBezTo>
                  <a:cubicBezTo>
                    <a:pt x="7325" y="1606"/>
                    <a:pt x="11203" y="0"/>
                    <a:pt x="15247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5400" y="-47625"/>
              <a:ext cx="1985555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9606" y="4300384"/>
            <a:ext cx="5019910" cy="5019910"/>
          </a:xfrm>
          <a:custGeom>
            <a:avLst/>
            <a:gdLst/>
            <a:ahLst/>
            <a:cxnLst/>
            <a:rect r="r" b="b" t="t" l="l"/>
            <a:pathLst>
              <a:path h="5019910" w="5019910">
                <a:moveTo>
                  <a:pt x="0" y="0"/>
                </a:moveTo>
                <a:lnTo>
                  <a:pt x="5019910" y="0"/>
                </a:lnTo>
                <a:lnTo>
                  <a:pt x="5019910" y="5019910"/>
                </a:lnTo>
                <a:lnTo>
                  <a:pt x="0" y="5019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39238" y="4274503"/>
            <a:ext cx="476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8359" y="1225884"/>
            <a:ext cx="6916999" cy="17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0"/>
              </a:lnSpc>
            </a:pPr>
            <a:r>
              <a:rPr lang="en-US" sz="11273" spc="-10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CropGuard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606" y="9301244"/>
            <a:ext cx="1826854" cy="43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R26-IT-101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3201" y="3465938"/>
            <a:ext cx="7473331" cy="140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3600" spc="-3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Edge AI Active Learning System for Real-Time Crop Disease Det</a:t>
            </a:r>
            <a:r>
              <a:rPr lang="en-US" sz="3600" spc="-3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ection</a:t>
            </a:r>
          </a:p>
          <a:p>
            <a:pPr algn="l">
              <a:lnSpc>
                <a:spcPts val="363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9991" y="9009009"/>
            <a:ext cx="11877357" cy="1802058"/>
            <a:chOff x="0" y="0"/>
            <a:chExt cx="2762287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9325661" y="1725459"/>
            <a:ext cx="9144000" cy="925817"/>
            <a:chOff x="0" y="0"/>
            <a:chExt cx="2126597" cy="2153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76180" y="1962543"/>
            <a:ext cx="5494264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3"/>
              </a:lnSpc>
            </a:pP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Problem</a:t>
            </a:r>
          </a:p>
          <a:p>
            <a:pPr algn="ctr">
              <a:lnSpc>
                <a:spcPts val="344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13342" y="880036"/>
            <a:ext cx="6610919" cy="328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3"/>
              </a:lnSpc>
            </a:pPr>
            <a:r>
              <a:rPr lang="en-US" sz="8799" spc="-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&amp; Stakeholders</a:t>
            </a:r>
          </a:p>
          <a:p>
            <a:pPr algn="l">
              <a:lnSpc>
                <a:spcPts val="935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757801" y="2828175"/>
            <a:ext cx="8454552" cy="87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7"/>
              </a:lnSpc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Crop diseases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threaten 30-40% of yields. Smallholder farmers in Sri Lanka rely on visual inspection or delayed expert advice – leading to misdiagnosis, pesticide misuse, and devastating losses.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63556" y="5189096"/>
            <a:ext cx="8624444" cy="146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Cloud-ba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sed AI needs internet rural farmers have none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Existing apps give generic, non-localized advice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Static models can't adapt to new diseases or regions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Heavy models can't run on low-end smartphones </a:t>
            </a:r>
          </a:p>
          <a:p>
            <a:pPr algn="just">
              <a:lnSpc>
                <a:spcPts val="2337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9318831" y="3946609"/>
            <a:ext cx="9144000" cy="925817"/>
            <a:chOff x="0" y="0"/>
            <a:chExt cx="2126597" cy="2153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398085" y="4142489"/>
            <a:ext cx="5494264" cy="43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It Still Matters?</a:t>
            </a:r>
          </a:p>
        </p:txBody>
      </p:sp>
      <p:grpSp>
        <p:nvGrpSpPr>
          <p:cNvPr name="Group 16" id="16"/>
          <p:cNvGrpSpPr/>
          <p:nvPr/>
        </p:nvGrpSpPr>
        <p:grpSpPr>
          <a:xfrm rot="-10800000">
            <a:off x="9318831" y="6522596"/>
            <a:ext cx="9144000" cy="925817"/>
            <a:chOff x="0" y="0"/>
            <a:chExt cx="2126597" cy="2153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398085" y="6763755"/>
            <a:ext cx="5494264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is Affected?</a:t>
            </a:r>
          </a:p>
          <a:p>
            <a:pPr algn="l">
              <a:lnSpc>
                <a:spcPts val="344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838210" y="7629387"/>
            <a:ext cx="8374143" cy="87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7"/>
              </a:lnSpc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Farmer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- Lost income &amp; food insecurity. Officers - Overwhelmed &amp; inaccessible. Consumers - Higher prices &amp; contamination. Environment - Soil &amp; water pollution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28700" y="3055973"/>
            <a:ext cx="6688805" cy="5953036"/>
          </a:xfrm>
          <a:custGeom>
            <a:avLst/>
            <a:gdLst/>
            <a:ahLst/>
            <a:cxnLst/>
            <a:rect r="r" b="b" t="t" l="l"/>
            <a:pathLst>
              <a:path h="5953036" w="6688805">
                <a:moveTo>
                  <a:pt x="0" y="0"/>
                </a:moveTo>
                <a:lnTo>
                  <a:pt x="6688805" y="0"/>
                </a:lnTo>
                <a:lnTo>
                  <a:pt x="6688805" y="5953036"/>
                </a:lnTo>
                <a:lnTo>
                  <a:pt x="0" y="5953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9991" y="9009009"/>
            <a:ext cx="11877357" cy="1802058"/>
            <a:chOff x="0" y="0"/>
            <a:chExt cx="2762287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5335" y="3278049"/>
            <a:ext cx="6206933" cy="5741413"/>
          </a:xfrm>
          <a:custGeom>
            <a:avLst/>
            <a:gdLst/>
            <a:ahLst/>
            <a:cxnLst/>
            <a:rect r="r" b="b" t="t" l="l"/>
            <a:pathLst>
              <a:path h="5741413" w="6206933">
                <a:moveTo>
                  <a:pt x="0" y="0"/>
                </a:moveTo>
                <a:lnTo>
                  <a:pt x="6206934" y="0"/>
                </a:lnTo>
                <a:lnTo>
                  <a:pt x="6206934" y="5741413"/>
                </a:lnTo>
                <a:lnTo>
                  <a:pt x="0" y="5741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-10800000">
            <a:off x="9325661" y="1896925"/>
            <a:ext cx="9144000" cy="925817"/>
            <a:chOff x="0" y="0"/>
            <a:chExt cx="2126597" cy="2153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838210" y="2134009"/>
            <a:ext cx="5494264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3"/>
              </a:lnSpc>
            </a:pP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 Gap – What's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Missing?</a:t>
            </a:r>
          </a:p>
          <a:p>
            <a:pPr algn="ctr">
              <a:lnSpc>
                <a:spcPts val="344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1349" y="891272"/>
            <a:ext cx="8232651" cy="306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9274" spc="-8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Research Gap &amp; Objectives</a:t>
            </a:r>
          </a:p>
          <a:p>
            <a:pPr algn="l">
              <a:lnSpc>
                <a:spcPts val="744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63556" y="2932966"/>
            <a:ext cx="8454552" cy="235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Cloud-based AI apps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(Plantix, Crop Doctor) require internet – useless offline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Static deep learning models can't adapt to new diseases or regional variations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Generic treatment advice – not localized to Sri Lankan practices or languages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Heavy models can't run on low-end smartphones.</a:t>
            </a:r>
          </a:p>
          <a:p>
            <a:pPr algn="just">
              <a:lnSpc>
                <a:spcPts val="233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94964" y="6482789"/>
            <a:ext cx="8624444" cy="2059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Objective 1: Enable offline, real-time disease detection on low-end smartphones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Objec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tive 2: Allow continuous adaptation to new diseases &amp; regional variations</a:t>
            </a:r>
          </a:p>
          <a:p>
            <a:pPr algn="just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ective 3: Deliver localized, actionable treatment advice in native languages</a:t>
            </a:r>
          </a:p>
          <a:p>
            <a:pPr algn="just">
              <a:lnSpc>
                <a:spcPts val="2337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-10800000">
            <a:off x="9325661" y="5306977"/>
            <a:ext cx="9144000" cy="925817"/>
            <a:chOff x="0" y="0"/>
            <a:chExt cx="2126597" cy="2153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04914" y="5502857"/>
            <a:ext cx="7105640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Objectives &amp; Solution Approach</a:t>
            </a:r>
          </a:p>
          <a:p>
            <a:pPr algn="l">
              <a:lnSpc>
                <a:spcPts val="3443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9991" y="9009009"/>
            <a:ext cx="11877357" cy="1802058"/>
            <a:chOff x="0" y="0"/>
            <a:chExt cx="2762287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9361065" y="1648438"/>
            <a:ext cx="9144000" cy="925817"/>
            <a:chOff x="0" y="0"/>
            <a:chExt cx="2126597" cy="2153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33489" y="1902149"/>
            <a:ext cx="5494264" cy="43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8800" y="880036"/>
            <a:ext cx="8926860" cy="328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3"/>
              </a:lnSpc>
            </a:pPr>
            <a:r>
              <a:rPr lang="en-US" sz="8799" spc="-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 Overview &amp; Architecture</a:t>
            </a:r>
          </a:p>
          <a:p>
            <a:pPr algn="l">
              <a:lnSpc>
                <a:spcPts val="935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793205" y="2672531"/>
            <a:ext cx="8454552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7"/>
              </a:lnSpc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CropGuard = TinyML disease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detection + Active Learning + Region-Adaptive Models + RAG Advisory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9207" y="4575641"/>
            <a:ext cx="8624444" cy="235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Base Model + Active Learning</a:t>
            </a:r>
          </a:p>
          <a:p>
            <a:pPr algn="l" marL="820422" indent="-273474" lvl="2">
              <a:lnSpc>
                <a:spcPts val="2337"/>
              </a:lnSpc>
              <a:buFont typeface="Arial"/>
              <a:buChar char="⚬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 model; flag uncertain predictions for expert review &amp; retraining</a:t>
            </a:r>
          </a:p>
          <a:p>
            <a:pPr algn="l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Region-Adaptive AutoML</a:t>
            </a:r>
          </a:p>
          <a:p>
            <a:pPr algn="l" marL="820422" indent="-273474" lvl="2">
              <a:lnSpc>
                <a:spcPts val="2337"/>
              </a:lnSpc>
              <a:buFont typeface="Arial"/>
              <a:buChar char="⚬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Fine-tune base model into 9 regional models</a:t>
            </a:r>
          </a:p>
          <a:p>
            <a:pPr algn="l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TinyML Compression</a:t>
            </a:r>
          </a:p>
          <a:p>
            <a:pPr algn="l" marL="820422" indent="-273474" lvl="2">
              <a:lnSpc>
                <a:spcPts val="2337"/>
              </a:lnSpc>
              <a:buFont typeface="Arial"/>
              <a:buChar char="⚬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Compress </a:t>
            </a:r>
            <a:r>
              <a:rPr lang="en-US" b="true" sz="1900" spc="-68">
                <a:solidFill>
                  <a:srgbClr val="00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ALL 9 models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(9 regional) → &lt;50MB, &gt;85% confidence</a:t>
            </a:r>
          </a:p>
          <a:p>
            <a:pPr algn="l" marL="410211" indent="-205106" lvl="1">
              <a:lnSpc>
                <a:spcPts val="2337"/>
              </a:lnSpc>
              <a:buFont typeface="Arial"/>
              <a:buChar char="•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RAG Advisory System</a:t>
            </a:r>
          </a:p>
          <a:p>
            <a:pPr algn="l" marL="820422" indent="-273474" lvl="2">
              <a:lnSpc>
                <a:spcPts val="2337"/>
              </a:lnSpc>
              <a:buFont typeface="Arial"/>
              <a:buChar char="⚬"/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Retrieve localized treatment advice in Sinhala/Tamil</a:t>
            </a: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9354236" y="3469539"/>
            <a:ext cx="9144000" cy="925817"/>
            <a:chOff x="0" y="0"/>
            <a:chExt cx="2126597" cy="2153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33489" y="3690959"/>
            <a:ext cx="5494264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Integrated Components</a:t>
            </a:r>
          </a:p>
          <a:p>
            <a:pPr algn="l">
              <a:lnSpc>
                <a:spcPts val="3443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-10800000">
            <a:off x="9354236" y="7111577"/>
            <a:ext cx="9144000" cy="925817"/>
            <a:chOff x="0" y="0"/>
            <a:chExt cx="2126597" cy="2153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6597" cy="215315"/>
            </a:xfrm>
            <a:custGeom>
              <a:avLst/>
              <a:gdLst/>
              <a:ahLst/>
              <a:cxnLst/>
              <a:rect r="r" b="b" t="t" l="l"/>
              <a:pathLst>
                <a:path h="215315" w="2126597">
                  <a:moveTo>
                    <a:pt x="15875" y="0"/>
                  </a:moveTo>
                  <a:lnTo>
                    <a:pt x="1879383" y="0"/>
                  </a:lnTo>
                  <a:cubicBezTo>
                    <a:pt x="2031666" y="0"/>
                    <a:pt x="2126597" y="48200"/>
                    <a:pt x="2126597" y="107657"/>
                  </a:cubicBezTo>
                  <a:cubicBezTo>
                    <a:pt x="2126597" y="167115"/>
                    <a:pt x="2031666" y="215315"/>
                    <a:pt x="1879383" y="215315"/>
                  </a:cubicBezTo>
                  <a:lnTo>
                    <a:pt x="15875" y="215315"/>
                  </a:lnTo>
                  <a:cubicBezTo>
                    <a:pt x="11665" y="215315"/>
                    <a:pt x="7627" y="213642"/>
                    <a:pt x="4650" y="210665"/>
                  </a:cubicBezTo>
                  <a:cubicBezTo>
                    <a:pt x="1673" y="207688"/>
                    <a:pt x="0" y="203650"/>
                    <a:pt x="0" y="19944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5400" y="-47625"/>
              <a:ext cx="1897997" cy="26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33489" y="7349702"/>
            <a:ext cx="5494264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It Works?</a:t>
            </a:r>
          </a:p>
          <a:p>
            <a:pPr algn="l">
              <a:lnSpc>
                <a:spcPts val="344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873614" y="8085019"/>
            <a:ext cx="8374143" cy="87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7"/>
              </a:lnSpc>
            </a:pP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Farmer capture</a:t>
            </a:r>
            <a:r>
              <a:rPr lang="en-US" sz="1900" spc="-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leaf → selects region model → TinyML runs offline → Disease detected → RAG gives advice in Sinhala/Tamil</a:t>
            </a:r>
          </a:p>
          <a:p>
            <a:pPr algn="just">
              <a:lnSpc>
                <a:spcPts val="2337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1028700" y="3157127"/>
            <a:ext cx="6567612" cy="5976527"/>
          </a:xfrm>
          <a:custGeom>
            <a:avLst/>
            <a:gdLst/>
            <a:ahLst/>
            <a:cxnLst/>
            <a:rect r="r" b="b" t="t" l="l"/>
            <a:pathLst>
              <a:path h="5976527" w="6567612">
                <a:moveTo>
                  <a:pt x="6567612" y="0"/>
                </a:moveTo>
                <a:lnTo>
                  <a:pt x="0" y="0"/>
                </a:lnTo>
                <a:lnTo>
                  <a:pt x="0" y="5976528"/>
                </a:lnTo>
                <a:lnTo>
                  <a:pt x="6567612" y="5976528"/>
                </a:lnTo>
                <a:lnTo>
                  <a:pt x="65676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2900" y="2683927"/>
            <a:ext cx="16882201" cy="6933683"/>
          </a:xfrm>
          <a:custGeom>
            <a:avLst/>
            <a:gdLst/>
            <a:ahLst/>
            <a:cxnLst/>
            <a:rect r="r" b="b" t="t" l="l"/>
            <a:pathLst>
              <a:path h="6933683" w="16882201">
                <a:moveTo>
                  <a:pt x="0" y="0"/>
                </a:moveTo>
                <a:lnTo>
                  <a:pt x="16882200" y="0"/>
                </a:lnTo>
                <a:lnTo>
                  <a:pt x="16882200" y="6933682"/>
                </a:lnTo>
                <a:lnTo>
                  <a:pt x="0" y="6933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816" r="0" b="-1329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621" y="1228725"/>
            <a:ext cx="9508744" cy="102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8074" spc="-7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8074" spc="-7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ystem Architecture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9991" y="9009009"/>
            <a:ext cx="11877357" cy="1802058"/>
            <a:chOff x="0" y="0"/>
            <a:chExt cx="2762287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4057" y="3485791"/>
            <a:ext cx="6480830" cy="6156789"/>
          </a:xfrm>
          <a:custGeom>
            <a:avLst/>
            <a:gdLst/>
            <a:ahLst/>
            <a:cxnLst/>
            <a:rect r="r" b="b" t="t" l="l"/>
            <a:pathLst>
              <a:path h="6156789" w="6480830">
                <a:moveTo>
                  <a:pt x="0" y="0"/>
                </a:moveTo>
                <a:lnTo>
                  <a:pt x="6480831" y="0"/>
                </a:lnTo>
                <a:lnTo>
                  <a:pt x="6480831" y="6156789"/>
                </a:lnTo>
                <a:lnTo>
                  <a:pt x="0" y="6156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48621" y="1228725"/>
            <a:ext cx="9508744" cy="313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8074" spc="-7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Commercialization &amp; Demo Roadmap</a:t>
            </a:r>
          </a:p>
          <a:p>
            <a:pPr algn="l">
              <a:lnSpc>
                <a:spcPts val="935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58824" y="2916746"/>
            <a:ext cx="9400476" cy="364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Users / Market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Sri Lankan rice farmers, agricultural officers, an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farming communities.</a:t>
            </a:r>
          </a:p>
          <a:p>
            <a:pPr algn="just">
              <a:lnSpc>
                <a:spcPts val="2660"/>
              </a:lnSpc>
            </a:pPr>
          </a:p>
          <a:p>
            <a:pPr algn="just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Value Proposition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AI-based regional disease detection with offline diagnosis and localized treatment advice.</a:t>
            </a:r>
          </a:p>
          <a:p>
            <a:pPr algn="just">
              <a:lnSpc>
                <a:spcPts val="2660"/>
              </a:lnSpc>
            </a:pPr>
          </a:p>
          <a:p>
            <a:pPr algn="just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 &amp; Feasibility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Uses open-source AI and mobile technologies. TinyML enables low-cost offline use on smartphones.</a:t>
            </a:r>
          </a:p>
          <a:p>
            <a:pPr algn="just">
              <a:lnSpc>
                <a:spcPts val="26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57365" y="6610985"/>
            <a:ext cx="7246373" cy="264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Adoption Plan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Pilot with selected farmers → collect feedback → improve the models → expan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to wider farming communities.</a:t>
            </a:r>
          </a:p>
          <a:p>
            <a:pPr algn="just">
              <a:lnSpc>
                <a:spcPts val="2660"/>
              </a:lnSpc>
            </a:pPr>
          </a:p>
          <a:p>
            <a:pPr algn="just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Commercialization Path</a:t>
            </a: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Prototype → Pilot Testing → Regional Deployment → Nationwide Use</a:t>
            </a:r>
          </a:p>
          <a:p>
            <a:pPr algn="just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9991" y="9009009"/>
            <a:ext cx="11877357" cy="1802058"/>
            <a:chOff x="0" y="0"/>
            <a:chExt cx="2762287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9779299" y="2059113"/>
            <a:ext cx="9520484" cy="1802058"/>
            <a:chOff x="0" y="0"/>
            <a:chExt cx="2214155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4155" cy="419100"/>
            </a:xfrm>
            <a:custGeom>
              <a:avLst/>
              <a:gdLst/>
              <a:ahLst/>
              <a:cxnLst/>
              <a:rect r="r" b="b" t="t" l="l"/>
              <a:pathLst>
                <a:path h="419100" w="2214155">
                  <a:moveTo>
                    <a:pt x="15247" y="0"/>
                  </a:moveTo>
                  <a:lnTo>
                    <a:pt x="1964910" y="0"/>
                  </a:lnTo>
                  <a:cubicBezTo>
                    <a:pt x="2119224" y="0"/>
                    <a:pt x="2214155" y="93819"/>
                    <a:pt x="2214155" y="209550"/>
                  </a:cubicBezTo>
                  <a:cubicBezTo>
                    <a:pt x="2214155" y="325281"/>
                    <a:pt x="2119224" y="419100"/>
                    <a:pt x="1964910" y="419100"/>
                  </a:cubicBezTo>
                  <a:lnTo>
                    <a:pt x="15247" y="419100"/>
                  </a:lnTo>
                  <a:cubicBezTo>
                    <a:pt x="11203" y="419100"/>
                    <a:pt x="7325" y="417494"/>
                    <a:pt x="4466" y="414634"/>
                  </a:cubicBezTo>
                  <a:cubicBezTo>
                    <a:pt x="1606" y="411775"/>
                    <a:pt x="0" y="407897"/>
                    <a:pt x="0" y="403853"/>
                  </a:cubicBezTo>
                  <a:lnTo>
                    <a:pt x="0" y="15247"/>
                  </a:lnTo>
                  <a:cubicBezTo>
                    <a:pt x="0" y="11203"/>
                    <a:pt x="1606" y="7325"/>
                    <a:pt x="4466" y="4466"/>
                  </a:cubicBezTo>
                  <a:cubicBezTo>
                    <a:pt x="7325" y="1606"/>
                    <a:pt x="11203" y="0"/>
                    <a:pt x="15247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-47625"/>
              <a:ext cx="1985555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45525" y="2059113"/>
            <a:ext cx="7570467" cy="7724967"/>
          </a:xfrm>
          <a:custGeom>
            <a:avLst/>
            <a:gdLst/>
            <a:ahLst/>
            <a:cxnLst/>
            <a:rect r="r" b="b" t="t" l="l"/>
            <a:pathLst>
              <a:path h="7724967" w="7570467">
                <a:moveTo>
                  <a:pt x="0" y="0"/>
                </a:moveTo>
                <a:lnTo>
                  <a:pt x="7570468" y="0"/>
                </a:lnTo>
                <a:lnTo>
                  <a:pt x="7570468" y="7724966"/>
                </a:lnTo>
                <a:lnTo>
                  <a:pt x="0" y="7724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33597" y="1746177"/>
            <a:ext cx="8992382" cy="476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37"/>
              </a:lnSpc>
            </a:pPr>
            <a:r>
              <a:rPr lang="en-US" sz="20647" spc="-18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34672" y="5405572"/>
            <a:ext cx="1510854" cy="249291"/>
          </a:xfrm>
          <a:custGeom>
            <a:avLst/>
            <a:gdLst/>
            <a:ahLst/>
            <a:cxnLst/>
            <a:rect r="r" b="b" t="t" l="l"/>
            <a:pathLst>
              <a:path h="249291" w="1510854">
                <a:moveTo>
                  <a:pt x="0" y="0"/>
                </a:moveTo>
                <a:lnTo>
                  <a:pt x="1510853" y="0"/>
                </a:lnTo>
                <a:lnTo>
                  <a:pt x="1510853" y="249291"/>
                </a:lnTo>
                <a:lnTo>
                  <a:pt x="0" y="249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9991" y="9009009"/>
            <a:ext cx="11877357" cy="1802058"/>
            <a:chOff x="0" y="0"/>
            <a:chExt cx="2762287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7375" y="847217"/>
            <a:ext cx="8926860" cy="314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9"/>
              </a:lnSpc>
            </a:pPr>
            <a:r>
              <a:rPr lang="en-US" sz="8300" spc="-7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Original Proposal vs. Final System</a:t>
            </a:r>
          </a:p>
          <a:p>
            <a:pPr algn="l">
              <a:lnSpc>
                <a:spcPts val="935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4187"/>
            <a:ext cx="7104144" cy="6109564"/>
          </a:xfrm>
          <a:custGeom>
            <a:avLst/>
            <a:gdLst/>
            <a:ahLst/>
            <a:cxnLst/>
            <a:rect r="r" b="b" t="t" l="l"/>
            <a:pathLst>
              <a:path h="6109564" w="7104144">
                <a:moveTo>
                  <a:pt x="0" y="0"/>
                </a:moveTo>
                <a:lnTo>
                  <a:pt x="7104144" y="0"/>
                </a:lnTo>
                <a:lnTo>
                  <a:pt x="7104144" y="6109563"/>
                </a:lnTo>
                <a:lnTo>
                  <a:pt x="0" y="6109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328277" y="1891856"/>
          <a:ext cx="9504807" cy="6896100"/>
        </p:xfrm>
        <a:graphic>
          <a:graphicData uri="http://schemas.openxmlformats.org/drawingml/2006/table">
            <a:tbl>
              <a:tblPr/>
              <a:tblGrid>
                <a:gridCol w="2582639"/>
                <a:gridCol w="5194944"/>
                <a:gridCol w="1727223"/>
              </a:tblGrid>
              <a:tr h="7758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Original Plan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Final 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Built By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62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Train base model + implement active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Complete – CNN model trained with confidence-based uncertainty detection + expert validation workflow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Senitha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Fine-tune base model with region-specific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Complete – 9 region-specific models created using transfer learning + AutoML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atheesha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62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Apply TinyML optimization to all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Complete – Quantization, pruning, distillation applied to ALL 9 models → &lt;50MB, maintain &gt;85%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Minidu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62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Develop RAG-based advisory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Localized Sinhala/Tamil treatment advice from Sri Lankan agricultural sources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Sethmi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272" y="1457930"/>
            <a:ext cx="9996961" cy="1056872"/>
            <a:chOff x="0" y="0"/>
            <a:chExt cx="2324968" cy="2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4968" cy="245794"/>
            </a:xfrm>
            <a:custGeom>
              <a:avLst/>
              <a:gdLst/>
              <a:ahLst/>
              <a:cxnLst/>
              <a:rect r="r" b="b" t="t" l="l"/>
              <a:pathLst>
                <a:path h="245794" w="2324968">
                  <a:moveTo>
                    <a:pt x="14521" y="0"/>
                  </a:moveTo>
                  <a:lnTo>
                    <a:pt x="2073153" y="0"/>
                  </a:lnTo>
                  <a:cubicBezTo>
                    <a:pt x="2230037" y="0"/>
                    <a:pt x="2324968" y="55023"/>
                    <a:pt x="2324968" y="122897"/>
                  </a:cubicBezTo>
                  <a:cubicBezTo>
                    <a:pt x="2324968" y="190771"/>
                    <a:pt x="2230037" y="245794"/>
                    <a:pt x="2073153" y="245794"/>
                  </a:cubicBezTo>
                  <a:lnTo>
                    <a:pt x="14521" y="245794"/>
                  </a:lnTo>
                  <a:cubicBezTo>
                    <a:pt x="10669" y="245794"/>
                    <a:pt x="6976" y="244264"/>
                    <a:pt x="4253" y="241541"/>
                  </a:cubicBezTo>
                  <a:cubicBezTo>
                    <a:pt x="1530" y="238818"/>
                    <a:pt x="0" y="235125"/>
                    <a:pt x="0" y="231274"/>
                  </a:cubicBezTo>
                  <a:lnTo>
                    <a:pt x="0" y="14521"/>
                  </a:lnTo>
                  <a:cubicBezTo>
                    <a:pt x="0" y="10669"/>
                    <a:pt x="1530" y="6976"/>
                    <a:pt x="4253" y="4253"/>
                  </a:cubicBezTo>
                  <a:cubicBezTo>
                    <a:pt x="6976" y="1530"/>
                    <a:pt x="10669" y="0"/>
                    <a:pt x="14521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096368" cy="29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79589" y="395295"/>
            <a:ext cx="12437427" cy="159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6900" spc="-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Original Proposal vs. Final System</a:t>
            </a:r>
          </a:p>
          <a:p>
            <a:pPr algn="l">
              <a:lnSpc>
                <a:spcPts val="572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5400000">
            <a:off x="-5811007" y="3019690"/>
            <a:ext cx="11877357" cy="1802058"/>
            <a:chOff x="0" y="0"/>
            <a:chExt cx="276228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91806" y="1668220"/>
            <a:ext cx="9070494" cy="50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3199" spc="-11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Training w</a:t>
            </a:r>
            <a:r>
              <a:rPr lang="en-US" b="true" sz="3199" spc="-11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ith Active Learning Pipeline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78597" y="2674849"/>
            <a:ext cx="6283540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🎯 Goal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Active Learning-based paddy disease detection system that identifies low-confidence predictions during real-time inference, collects those uncertain images, obtains expert-validated labels.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108574" y="2722474"/>
          <a:ext cx="9718971" cy="6943808"/>
        </p:xfrm>
        <a:graphic>
          <a:graphicData uri="http://schemas.openxmlformats.org/drawingml/2006/table">
            <a:tbl>
              <a:tblPr/>
              <a:tblGrid>
                <a:gridCol w="2082127"/>
                <a:gridCol w="3988748"/>
                <a:gridCol w="3648095"/>
              </a:tblGrid>
              <a:tr h="7757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What Happened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452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Initial model 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MobileNetV2 was trained using the 8-class paddy disease dataset with a 70% training, 15% validation, and 15% test split.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Trained a TensorFlow MobileNetV2 model for paddy disease classification.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528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Uncertain predictions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just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test image was predicted as Narrow Brown Leaf Spot at 56.26% confidence.</a:t>
                      </a:r>
                    </a:p>
                    <a:p>
                      <a:pPr algn="just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Applied an 80% confidence threshold to detect uncertain predictions.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821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Low-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confidence images require expert validation.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Implemented local storage, MongoDB synchronization, and expert labeling.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272" y="1457930"/>
            <a:ext cx="12416472" cy="1056872"/>
            <a:chOff x="0" y="0"/>
            <a:chExt cx="2887668" cy="2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668" cy="245794"/>
            </a:xfrm>
            <a:custGeom>
              <a:avLst/>
              <a:gdLst/>
              <a:ahLst/>
              <a:cxnLst/>
              <a:rect r="r" b="b" t="t" l="l"/>
              <a:pathLst>
                <a:path h="245794" w="2887668">
                  <a:moveTo>
                    <a:pt x="11691" y="0"/>
                  </a:moveTo>
                  <a:lnTo>
                    <a:pt x="2622804" y="0"/>
                  </a:lnTo>
                  <a:cubicBezTo>
                    <a:pt x="2792736" y="0"/>
                    <a:pt x="2887668" y="55023"/>
                    <a:pt x="2887668" y="122897"/>
                  </a:cubicBezTo>
                  <a:cubicBezTo>
                    <a:pt x="2887668" y="190771"/>
                    <a:pt x="2792736" y="245794"/>
                    <a:pt x="2622804" y="245794"/>
                  </a:cubicBezTo>
                  <a:lnTo>
                    <a:pt x="11691" y="245794"/>
                  </a:lnTo>
                  <a:cubicBezTo>
                    <a:pt x="8590" y="245794"/>
                    <a:pt x="5617" y="244562"/>
                    <a:pt x="3424" y="242370"/>
                  </a:cubicBezTo>
                  <a:cubicBezTo>
                    <a:pt x="1232" y="240177"/>
                    <a:pt x="0" y="237204"/>
                    <a:pt x="0" y="234103"/>
                  </a:cubicBezTo>
                  <a:lnTo>
                    <a:pt x="0" y="11691"/>
                  </a:lnTo>
                  <a:cubicBezTo>
                    <a:pt x="0" y="8590"/>
                    <a:pt x="1232" y="5617"/>
                    <a:pt x="3424" y="3424"/>
                  </a:cubicBezTo>
                  <a:cubicBezTo>
                    <a:pt x="5617" y="1232"/>
                    <a:pt x="8590" y="0"/>
                    <a:pt x="11691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659068" cy="29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5811007" y="3019690"/>
            <a:ext cx="11877357" cy="1802058"/>
            <a:chOff x="0" y="0"/>
            <a:chExt cx="2762287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28700" y="2569662"/>
          <a:ext cx="9925986" cy="6688638"/>
        </p:xfrm>
        <a:graphic>
          <a:graphicData uri="http://schemas.openxmlformats.org/drawingml/2006/table">
            <a:tbl>
              <a:tblPr/>
              <a:tblGrid>
                <a:gridCol w="2126477"/>
                <a:gridCol w="4073709"/>
                <a:gridCol w="3725800"/>
              </a:tblGrid>
              <a:tr h="832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What Happened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256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Unseen-image 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V4 achieved 82.86% on existing test images but dropped to 37.24% on unseen images.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Applied Active Learning using difficult false-healthy examples.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231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Disease confusion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 diseased images were incorrectly predicted as Healthy Rice Leaf.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Fine-tuned V4 regional models with hard examples and class weighting.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166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Final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just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V4.1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reached 53.50% unseen-image accuracy and reduced false-healthy cases to 4.</a:t>
                      </a:r>
                    </a:p>
                    <a:p>
                      <a:pPr algn="just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V4.1 selected as the improved model.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279589" y="395295"/>
            <a:ext cx="12437427" cy="159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6900" spc="-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Original Proposal vs. Final System</a:t>
            </a:r>
          </a:p>
          <a:p>
            <a:pPr algn="l">
              <a:lnSpc>
                <a:spcPts val="572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63231" y="1677745"/>
            <a:ext cx="11935704" cy="50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3199" spc="-11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Region-Adaptive AutoML Fram</a:t>
            </a:r>
            <a:r>
              <a:rPr lang="en-US" b="true" sz="3199" spc="-11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ework with Transfer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30953" y="2522037"/>
            <a:ext cx="6128347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🎯 Goal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Regionalize rice disease detection to improve accuracy by adapting models to different Sri Lankan agricultural zones.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91806" y="4801622"/>
          <a:ext cx="7315200" cy="389572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Before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After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Model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21.53 MB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4.6 MB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Inference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 seconds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3 seconds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9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7.40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97.18%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Format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Keras (.keras)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Float16 TFLite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804272" y="1457930"/>
            <a:ext cx="9996961" cy="1056872"/>
            <a:chOff x="0" y="0"/>
            <a:chExt cx="2324968" cy="2457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4968" cy="245794"/>
            </a:xfrm>
            <a:custGeom>
              <a:avLst/>
              <a:gdLst/>
              <a:ahLst/>
              <a:cxnLst/>
              <a:rect r="r" b="b" t="t" l="l"/>
              <a:pathLst>
                <a:path h="245794" w="2324968">
                  <a:moveTo>
                    <a:pt x="14521" y="0"/>
                  </a:moveTo>
                  <a:lnTo>
                    <a:pt x="2073153" y="0"/>
                  </a:lnTo>
                  <a:cubicBezTo>
                    <a:pt x="2230037" y="0"/>
                    <a:pt x="2324968" y="55023"/>
                    <a:pt x="2324968" y="122897"/>
                  </a:cubicBezTo>
                  <a:cubicBezTo>
                    <a:pt x="2324968" y="190771"/>
                    <a:pt x="2230037" y="245794"/>
                    <a:pt x="2073153" y="245794"/>
                  </a:cubicBezTo>
                  <a:lnTo>
                    <a:pt x="14521" y="245794"/>
                  </a:lnTo>
                  <a:cubicBezTo>
                    <a:pt x="10669" y="245794"/>
                    <a:pt x="6976" y="244264"/>
                    <a:pt x="4253" y="241541"/>
                  </a:cubicBezTo>
                  <a:cubicBezTo>
                    <a:pt x="1530" y="238818"/>
                    <a:pt x="0" y="235125"/>
                    <a:pt x="0" y="231274"/>
                  </a:cubicBezTo>
                  <a:lnTo>
                    <a:pt x="0" y="14521"/>
                  </a:lnTo>
                  <a:cubicBezTo>
                    <a:pt x="0" y="10669"/>
                    <a:pt x="1530" y="6976"/>
                    <a:pt x="4253" y="4253"/>
                  </a:cubicBezTo>
                  <a:cubicBezTo>
                    <a:pt x="6976" y="1530"/>
                    <a:pt x="10669" y="0"/>
                    <a:pt x="14521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47625"/>
              <a:ext cx="2096368" cy="29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409900" y="2877572"/>
          <a:ext cx="7368918" cy="6788442"/>
        </p:xfrm>
        <a:graphic>
          <a:graphicData uri="http://schemas.openxmlformats.org/drawingml/2006/table">
            <a:tbl>
              <a:tblPr/>
              <a:tblGrid>
                <a:gridCol w="2456306"/>
                <a:gridCol w="2456306"/>
                <a:gridCol w="2456306"/>
              </a:tblGrid>
              <a:tr h="775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What Happened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69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Apparent accuracy drop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Initial TFLite tests showed </a:t>
                      </a: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70%, 50%, &amp; 80%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Identified preprocessing mismatch between testing pipelines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40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Root cause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Initial TFLite tests showed 70%, 50%, &amp; 80%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Standardized preprocessing across all tests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6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Final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Corrected test showed </a:t>
                      </a: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97.45%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→ Float16 gave </a:t>
                      </a: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97.40%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Compression confirmed </a:t>
                      </a:r>
                      <a:r>
                        <a:rPr lang="en-US" sz="1900" b="true">
                          <a:solidFill>
                            <a:srgbClr val="000000"/>
                          </a:solidFill>
                          <a:latin typeface="Open Sauce Semi-Bold"/>
                          <a:ea typeface="Open Sauce Semi-Bold"/>
                          <a:cs typeface="Open Sauce Semi-Bold"/>
                          <a:sym typeface="Open Sauce Semi-Bold"/>
                        </a:rPr>
                        <a:t>NOT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the cause of accuracy 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279589" y="395295"/>
            <a:ext cx="12437427" cy="159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6900" spc="-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Original Proposal vs. Final System</a:t>
            </a:r>
          </a:p>
          <a:p>
            <a:pPr algn="l">
              <a:lnSpc>
                <a:spcPts val="5727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5811007" y="3019690"/>
            <a:ext cx="11877357" cy="1802058"/>
            <a:chOff x="0" y="0"/>
            <a:chExt cx="2762287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91806" y="1696795"/>
            <a:ext cx="9070494" cy="50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3199" spc="-11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TinyML-Optim</a:t>
            </a:r>
            <a:r>
              <a:rPr lang="en-US" b="true" sz="3199" spc="-11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ized &amp; Model Compression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3616" y="2748327"/>
            <a:ext cx="8618274" cy="123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🎯 Goal</a:t>
            </a:r>
          </a:p>
          <a:p>
            <a:pPr algn="l">
              <a:lnSpc>
                <a:spcPts val="3197"/>
              </a:lnSpc>
            </a:pPr>
            <a:r>
              <a:rPr lang="en-US" sz="2599" spc="-9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Reduce mod</a:t>
            </a:r>
            <a:r>
              <a:rPr lang="en-US" sz="2599" spc="-9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 size to &lt;50MB while maintaining &gt;85% accuracy for offline deployment on low-end smartphones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1806" y="4087514"/>
            <a:ext cx="8618274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📊 C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ompression Results</a:t>
            </a:r>
          </a:p>
          <a:p>
            <a:pPr algn="l">
              <a:lnSpc>
                <a:spcPts val="344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91806" y="8849747"/>
            <a:ext cx="861827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499" spc="-8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Reduced size by ~80% while maintaining al</a:t>
            </a:r>
            <a:r>
              <a:rPr lang="en-US" b="true" sz="2499" spc="-8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most identical accuracy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757" y="2220918"/>
            <a:ext cx="7772778" cy="86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799" spc="-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⚠️ Key Chall</a:t>
            </a:r>
            <a:r>
              <a:rPr lang="en-US" b="true" sz="2799" spc="-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enge &amp; Resolution</a:t>
            </a:r>
          </a:p>
          <a:p>
            <a:pPr algn="l">
              <a:lnSpc>
                <a:spcPts val="3443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272" y="1457930"/>
            <a:ext cx="12416472" cy="1056872"/>
            <a:chOff x="0" y="0"/>
            <a:chExt cx="2887668" cy="2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668" cy="245794"/>
            </a:xfrm>
            <a:custGeom>
              <a:avLst/>
              <a:gdLst/>
              <a:ahLst/>
              <a:cxnLst/>
              <a:rect r="r" b="b" t="t" l="l"/>
              <a:pathLst>
                <a:path h="245794" w="2887668">
                  <a:moveTo>
                    <a:pt x="11691" y="0"/>
                  </a:moveTo>
                  <a:lnTo>
                    <a:pt x="2622804" y="0"/>
                  </a:lnTo>
                  <a:cubicBezTo>
                    <a:pt x="2792736" y="0"/>
                    <a:pt x="2887668" y="55023"/>
                    <a:pt x="2887668" y="122897"/>
                  </a:cubicBezTo>
                  <a:cubicBezTo>
                    <a:pt x="2887668" y="190771"/>
                    <a:pt x="2792736" y="245794"/>
                    <a:pt x="2622804" y="245794"/>
                  </a:cubicBezTo>
                  <a:lnTo>
                    <a:pt x="11691" y="245794"/>
                  </a:lnTo>
                  <a:cubicBezTo>
                    <a:pt x="8590" y="245794"/>
                    <a:pt x="5617" y="244562"/>
                    <a:pt x="3424" y="242370"/>
                  </a:cubicBezTo>
                  <a:cubicBezTo>
                    <a:pt x="1232" y="240177"/>
                    <a:pt x="0" y="237204"/>
                    <a:pt x="0" y="234103"/>
                  </a:cubicBezTo>
                  <a:lnTo>
                    <a:pt x="0" y="11691"/>
                  </a:lnTo>
                  <a:cubicBezTo>
                    <a:pt x="0" y="8590"/>
                    <a:pt x="1232" y="5617"/>
                    <a:pt x="3424" y="3424"/>
                  </a:cubicBezTo>
                  <a:cubicBezTo>
                    <a:pt x="5617" y="1232"/>
                    <a:pt x="8590" y="0"/>
                    <a:pt x="11691" y="0"/>
                  </a:cubicBezTo>
                  <a:close/>
                </a:path>
              </a:pathLst>
            </a:custGeom>
            <a:solidFill>
              <a:srgbClr val="1FBBD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47625"/>
              <a:ext cx="2659068" cy="29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79589" y="395295"/>
            <a:ext cx="12437427" cy="159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7"/>
              </a:lnSpc>
            </a:pPr>
            <a:r>
              <a:rPr lang="en-US" sz="6900" spc="-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Original Proposal vs. Final System</a:t>
            </a:r>
          </a:p>
          <a:p>
            <a:pPr algn="l">
              <a:lnSpc>
                <a:spcPts val="572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5400000">
            <a:off x="-5811007" y="3019690"/>
            <a:ext cx="11877357" cy="1802058"/>
            <a:chOff x="0" y="0"/>
            <a:chExt cx="276228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2287" cy="419100"/>
            </a:xfrm>
            <a:custGeom>
              <a:avLst/>
              <a:gdLst/>
              <a:ahLst/>
              <a:cxnLst/>
              <a:rect r="r" b="b" t="t" l="l"/>
              <a:pathLst>
                <a:path h="419100" w="2762287">
                  <a:moveTo>
                    <a:pt x="12222" y="0"/>
                  </a:moveTo>
                  <a:lnTo>
                    <a:pt x="2500331" y="0"/>
                  </a:lnTo>
                  <a:cubicBezTo>
                    <a:pt x="2667356" y="0"/>
                    <a:pt x="2762287" y="93819"/>
                    <a:pt x="2762287" y="209550"/>
                  </a:cubicBezTo>
                  <a:cubicBezTo>
                    <a:pt x="2762287" y="325281"/>
                    <a:pt x="2667356" y="419100"/>
                    <a:pt x="2500331" y="419100"/>
                  </a:cubicBezTo>
                  <a:lnTo>
                    <a:pt x="12222" y="419100"/>
                  </a:lnTo>
                  <a:cubicBezTo>
                    <a:pt x="5472" y="419100"/>
                    <a:pt x="0" y="413628"/>
                    <a:pt x="0" y="406878"/>
                  </a:cubicBezTo>
                  <a:lnTo>
                    <a:pt x="0" y="12222"/>
                  </a:lnTo>
                  <a:cubicBezTo>
                    <a:pt x="0" y="5472"/>
                    <a:pt x="5472" y="0"/>
                    <a:pt x="12222" y="0"/>
                  </a:cubicBezTo>
                  <a:close/>
                </a:path>
              </a:pathLst>
            </a:custGeom>
            <a:solidFill>
              <a:srgbClr val="C7D99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5400" y="-47625"/>
              <a:ext cx="2533687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91806" y="1687270"/>
            <a:ext cx="10432066" cy="50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3199" spc="-11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RAG-Based L</a:t>
            </a:r>
            <a:r>
              <a:rPr lang="en-US" b="true" sz="3199" spc="-11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ocalized Treatment Advisory System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02726" y="40185"/>
            <a:ext cx="1685274" cy="1685274"/>
          </a:xfrm>
          <a:custGeom>
            <a:avLst/>
            <a:gdLst/>
            <a:ahLst/>
            <a:cxnLst/>
            <a:rect r="r" b="b" t="t" l="l"/>
            <a:pathLst>
              <a:path h="1685274" w="1685274">
                <a:moveTo>
                  <a:pt x="0" y="0"/>
                </a:moveTo>
                <a:lnTo>
                  <a:pt x="1685274" y="0"/>
                </a:lnTo>
                <a:lnTo>
                  <a:pt x="1685274" y="1685274"/>
                </a:lnTo>
                <a:lnTo>
                  <a:pt x="0" y="168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0997" y="2827249"/>
            <a:ext cx="4722207" cy="41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🎯 Goal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Develop a retrieval-augmented generation (RAG) decision support layer to provide context-aware, safety-focused and localized treatment recommendations in native languages (Sinhala &amp; Tamil) sourced from verified Sri Lankan agricultural data.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012508" y="2874874"/>
          <a:ext cx="10879112" cy="6581775"/>
        </p:xfrm>
        <a:graphic>
          <a:graphicData uri="http://schemas.openxmlformats.org/drawingml/2006/table">
            <a:tbl>
              <a:tblPr/>
              <a:tblGrid>
                <a:gridCol w="2125759"/>
                <a:gridCol w="4486120"/>
                <a:gridCol w="4267233"/>
              </a:tblGrid>
              <a:tr h="776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What Happened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9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Generic Advice 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Current apps offer general, non-localized treatment rules that fail Sri Lankan farming needs.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Compiled based on agricultural knowledge obtained from reliable sources from the Department of Agriculture, Sri Lanka.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07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Language &amp; Context Localization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AI frameworks default to generic English outputs.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Integrated Gemini API to dynamically translate and structure treatment advice into clear, local Sinhala and Tamil.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51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Advisory Safety &amp; Relevance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 of generating incorrect chemical dosages or unsafe remedies.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Optimized the RAG pipeline to query curated local vector embeddings and deliver immediate context-aware output upon disease identification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DAHTXdiDx6U</dc:identifier>
  <dcterms:modified xsi:type="dcterms:W3CDTF">2011-08-01T06:04:30Z</dcterms:modified>
  <cp:revision>1</cp:revision>
  <dc:title>Blue Green Modern Business Growth Strategy Presentation</dc:title>
</cp:coreProperties>
</file>